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72" r:id="rId4"/>
    <p:sldMasterId id="21474836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:notes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p1:notes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Name of the faculty [Group: G00] [Sem:2nd]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c37ec58c4_0_18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dc37ec58c4_0_18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dc37ec58c4_0_180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c37ec58c4_0_435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c37ec58c4_0_43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dc37ec58c4_0_435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c37ec58c4_0_693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dc37ec58c4_0_693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dc37ec58c4_0_693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dc37ec58c4_0_1029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dc37ec58c4_0_1029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dc37ec58c4_0_1029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dc37ec58c4_0_1381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dc37ec58c4_0_1381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dc37ec58c4_0_1381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c37ec58c4_0_1637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dc37ec58c4_0_1637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dc37ec58c4_0_1637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idx="1"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2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6"/>
          <p:cNvSpPr txBox="1"/>
          <p:nvPr>
            <p:ph idx="1" type="subTitle"/>
          </p:nvPr>
        </p:nvSpPr>
        <p:spPr>
          <a:xfrm>
            <a:off x="457200" y="1604520"/>
            <a:ext cx="82293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457200" y="1604520"/>
            <a:ext cx="82293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8"/>
          <p:cNvSpPr txBox="1"/>
          <p:nvPr>
            <p:ph idx="1" type="body"/>
          </p:nvPr>
        </p:nvSpPr>
        <p:spPr>
          <a:xfrm>
            <a:off x="457200" y="1604520"/>
            <a:ext cx="40158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8"/>
          <p:cNvSpPr txBox="1"/>
          <p:nvPr>
            <p:ph idx="2" type="body"/>
          </p:nvPr>
        </p:nvSpPr>
        <p:spPr>
          <a:xfrm>
            <a:off x="4674240" y="1604520"/>
            <a:ext cx="40158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idx="1" type="subTitle"/>
          </p:nvPr>
        </p:nvSpPr>
        <p:spPr>
          <a:xfrm>
            <a:off x="0" y="0"/>
            <a:ext cx="5486100" cy="42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457200" y="160452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21"/>
          <p:cNvSpPr txBox="1"/>
          <p:nvPr>
            <p:ph idx="2" type="body"/>
          </p:nvPr>
        </p:nvSpPr>
        <p:spPr>
          <a:xfrm>
            <a:off x="4674240" y="1604520"/>
            <a:ext cx="40158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3" type="body"/>
          </p:nvPr>
        </p:nvSpPr>
        <p:spPr>
          <a:xfrm>
            <a:off x="457200" y="368208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457200" y="1604520"/>
            <a:ext cx="40158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idx="2" type="body"/>
          </p:nvPr>
        </p:nvSpPr>
        <p:spPr>
          <a:xfrm>
            <a:off x="4674240" y="160452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22"/>
          <p:cNvSpPr txBox="1"/>
          <p:nvPr>
            <p:ph idx="3" type="body"/>
          </p:nvPr>
        </p:nvSpPr>
        <p:spPr>
          <a:xfrm>
            <a:off x="4674240" y="368208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457200" y="160452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23"/>
          <p:cNvSpPr txBox="1"/>
          <p:nvPr>
            <p:ph idx="2" type="body"/>
          </p:nvPr>
        </p:nvSpPr>
        <p:spPr>
          <a:xfrm>
            <a:off x="4674240" y="160452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3" type="body"/>
          </p:nvPr>
        </p:nvSpPr>
        <p:spPr>
          <a:xfrm>
            <a:off x="457200" y="3682080"/>
            <a:ext cx="82293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457200" y="1604520"/>
            <a:ext cx="82293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24"/>
          <p:cNvSpPr txBox="1"/>
          <p:nvPr>
            <p:ph idx="2" type="body"/>
          </p:nvPr>
        </p:nvSpPr>
        <p:spPr>
          <a:xfrm>
            <a:off x="457200" y="3682080"/>
            <a:ext cx="82293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457200" y="160452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25"/>
          <p:cNvSpPr txBox="1"/>
          <p:nvPr>
            <p:ph idx="2" type="body"/>
          </p:nvPr>
        </p:nvSpPr>
        <p:spPr>
          <a:xfrm>
            <a:off x="4674240" y="160452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5"/>
          <p:cNvSpPr txBox="1"/>
          <p:nvPr>
            <p:ph idx="3" type="body"/>
          </p:nvPr>
        </p:nvSpPr>
        <p:spPr>
          <a:xfrm>
            <a:off x="457200" y="368208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25"/>
          <p:cNvSpPr txBox="1"/>
          <p:nvPr>
            <p:ph idx="4" type="body"/>
          </p:nvPr>
        </p:nvSpPr>
        <p:spPr>
          <a:xfrm>
            <a:off x="4674240" y="3682080"/>
            <a:ext cx="40158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0" y="0"/>
            <a:ext cx="54861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457200" y="1604520"/>
            <a:ext cx="26496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26"/>
          <p:cNvSpPr txBox="1"/>
          <p:nvPr>
            <p:ph idx="2" type="body"/>
          </p:nvPr>
        </p:nvSpPr>
        <p:spPr>
          <a:xfrm>
            <a:off x="3239640" y="1604520"/>
            <a:ext cx="26496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26"/>
          <p:cNvSpPr txBox="1"/>
          <p:nvPr>
            <p:ph idx="3" type="body"/>
          </p:nvPr>
        </p:nvSpPr>
        <p:spPr>
          <a:xfrm>
            <a:off x="6022080" y="1604520"/>
            <a:ext cx="26496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26"/>
          <p:cNvSpPr txBox="1"/>
          <p:nvPr>
            <p:ph idx="4" type="body"/>
          </p:nvPr>
        </p:nvSpPr>
        <p:spPr>
          <a:xfrm>
            <a:off x="457200" y="3682080"/>
            <a:ext cx="26496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26"/>
          <p:cNvSpPr txBox="1"/>
          <p:nvPr>
            <p:ph idx="5" type="body"/>
          </p:nvPr>
        </p:nvSpPr>
        <p:spPr>
          <a:xfrm>
            <a:off x="3239640" y="3682080"/>
            <a:ext cx="26496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26"/>
          <p:cNvSpPr txBox="1"/>
          <p:nvPr>
            <p:ph idx="6" type="body"/>
          </p:nvPr>
        </p:nvSpPr>
        <p:spPr>
          <a:xfrm>
            <a:off x="6022080" y="3682080"/>
            <a:ext cx="26496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5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image" Target="../media/image5.jp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/>
          <p:nvPr/>
        </p:nvSpPr>
        <p:spPr>
          <a:xfrm flipH="1" rot="10800000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.gif" id="12" name="Google Shape;12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3" name="Google Shape;13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16" name="Google Shape;16;p1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18" name="Google Shape;18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9" name="Google Shape;19;p1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1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22" name="Google Shape;22;p1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1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24" name="Google Shape;24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1"/>
          <p:cNvSpPr txBox="1"/>
          <p:nvPr>
            <p:ph idx="1"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/>
          <p:nvPr/>
        </p:nvSpPr>
        <p:spPr>
          <a:xfrm>
            <a:off x="0" y="0"/>
            <a:ext cx="9143700" cy="83760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/>
          <p:cNvSpPr/>
          <p:nvPr/>
        </p:nvSpPr>
        <p:spPr>
          <a:xfrm flipH="1" rot="10800000">
            <a:off x="0" y="6704580"/>
            <a:ext cx="9143700" cy="1977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.gif" id="81" name="Google Shape;81;p14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39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82" name="Google Shape;82;p14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39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" name="Google Shape;83;p14"/>
          <p:cNvGrpSpPr/>
          <p:nvPr/>
        </p:nvGrpSpPr>
        <p:grpSpPr>
          <a:xfrm>
            <a:off x="6146640" y="0"/>
            <a:ext cx="2997000" cy="875940"/>
            <a:chOff x="6146640" y="0"/>
            <a:chExt cx="2997000" cy="875940"/>
          </a:xfrm>
        </p:grpSpPr>
        <p:sp>
          <p:nvSpPr>
            <p:cNvPr id="84" name="Google Shape;84;p14"/>
            <p:cNvSpPr/>
            <p:nvPr/>
          </p:nvSpPr>
          <p:spPr>
            <a:xfrm>
              <a:off x="6146640" y="0"/>
              <a:ext cx="2997000" cy="8376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85" name="Google Shape;85;p14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39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" name="Google Shape;86;p14"/>
            <p:cNvSpPr/>
            <p:nvPr/>
          </p:nvSpPr>
          <p:spPr>
            <a:xfrm>
              <a:off x="6527880" y="190440"/>
              <a:ext cx="2076000" cy="685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87" name="Google Shape;8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88" name="Google Shape;88;p14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39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" name="Google Shape;89;p14"/>
          <p:cNvGrpSpPr/>
          <p:nvPr/>
        </p:nvGrpSpPr>
        <p:grpSpPr>
          <a:xfrm>
            <a:off x="6146640" y="0"/>
            <a:ext cx="2997000" cy="875940"/>
            <a:chOff x="6146640" y="0"/>
            <a:chExt cx="2997000" cy="875940"/>
          </a:xfrm>
        </p:grpSpPr>
        <p:sp>
          <p:nvSpPr>
            <p:cNvPr id="90" name="Google Shape;90;p14"/>
            <p:cNvSpPr/>
            <p:nvPr/>
          </p:nvSpPr>
          <p:spPr>
            <a:xfrm>
              <a:off x="6146640" y="0"/>
              <a:ext cx="2997000" cy="83760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LOGO.gif" id="91" name="Google Shape;91;p14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39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" name="Google Shape;92;p14"/>
            <p:cNvSpPr/>
            <p:nvPr/>
          </p:nvSpPr>
          <p:spPr>
            <a:xfrm>
              <a:off x="6527880" y="190440"/>
              <a:ext cx="2076000" cy="685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logo.jpg" id="93" name="Google Shape;9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>
            <p:ph type="title"/>
          </p:nvPr>
        </p:nvSpPr>
        <p:spPr>
          <a:xfrm>
            <a:off x="0" y="0"/>
            <a:ext cx="6476700" cy="8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457200" y="1371600"/>
            <a:ext cx="82293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" name="Google Shape;96;p14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4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14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/>
          <p:nvPr/>
        </p:nvSpPr>
        <p:spPr>
          <a:xfrm>
            <a:off x="0" y="840631"/>
            <a:ext cx="9144000" cy="53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CO-OP Project at Industry (Module-2) (22CS421)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Based Dairy Milk Billing and Managment System</a:t>
            </a:r>
            <a:endParaRPr b="0" i="1" sz="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Pranav Bansal   Kunsh Bhandari  Ashish Rana</a:t>
            </a:r>
            <a:endParaRPr/>
          </a:p>
          <a:p>
            <a:pPr indent="0" lvl="0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     2210990665      2210990529        2210990187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Dr Ajay Kumar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FF3D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8"/>
          <p:cNvSpPr txBox="1"/>
          <p:nvPr/>
        </p:nvSpPr>
        <p:spPr>
          <a:xfrm>
            <a:off x="457200" y="57150"/>
            <a:ext cx="6019500" cy="837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1905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sz="36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60" name="Google Shape;160;p28"/>
          <p:cNvGrpSpPr/>
          <p:nvPr/>
        </p:nvGrpSpPr>
        <p:grpSpPr>
          <a:xfrm>
            <a:off x="457200" y="1333500"/>
            <a:ext cx="8229600" cy="952500"/>
            <a:chOff x="457200" y="1333500"/>
            <a:chExt cx="8229600" cy="952500"/>
          </a:xfrm>
        </p:grpSpPr>
        <p:sp>
          <p:nvSpPr>
            <p:cNvPr id="161" name="Google Shape;161;p28"/>
            <p:cNvSpPr/>
            <p:nvPr/>
          </p:nvSpPr>
          <p:spPr>
            <a:xfrm>
              <a:off x="457200" y="1333500"/>
              <a:ext cx="8229600" cy="952500"/>
            </a:xfrm>
            <a:prstGeom prst="roundRect">
              <a:avLst>
                <a:gd fmla="val 100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8"/>
            <p:cNvSpPr txBox="1"/>
            <p:nvPr/>
          </p:nvSpPr>
          <p:spPr>
            <a:xfrm>
              <a:off x="647700" y="1333500"/>
              <a:ext cx="78486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Traditional dairy businesses often rely on manual ledger books for recording milk collection, leading to high operational friction and error rates.</a:t>
              </a:r>
              <a:endParaRPr sz="1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3" name="Google Shape;163;p28"/>
          <p:cNvGrpSpPr/>
          <p:nvPr/>
        </p:nvGrpSpPr>
        <p:grpSpPr>
          <a:xfrm>
            <a:off x="457200" y="2476500"/>
            <a:ext cx="1905000" cy="476400"/>
            <a:chOff x="457200" y="2476500"/>
            <a:chExt cx="1905000" cy="476400"/>
          </a:xfrm>
        </p:grpSpPr>
        <p:sp>
          <p:nvSpPr>
            <p:cNvPr id="164" name="Google Shape;164;p28"/>
            <p:cNvSpPr/>
            <p:nvPr/>
          </p:nvSpPr>
          <p:spPr>
            <a:xfrm>
              <a:off x="457200" y="2476500"/>
              <a:ext cx="1905000" cy="476400"/>
            </a:xfrm>
            <a:prstGeom prst="roundRect">
              <a:avLst>
                <a:gd fmla="val 50000" name="adj"/>
              </a:avLst>
            </a:prstGeom>
            <a:solidFill>
              <a:srgbClr val="FF3D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8"/>
            <p:cNvSpPr txBox="1"/>
            <p:nvPr/>
          </p:nvSpPr>
          <p:spPr>
            <a:xfrm>
              <a:off x="457200" y="2476500"/>
              <a:ext cx="1905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The Problem</a:t>
              </a:r>
              <a:endParaRPr b="1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" name="Google Shape;166;p28"/>
          <p:cNvGrpSpPr/>
          <p:nvPr/>
        </p:nvGrpSpPr>
        <p:grpSpPr>
          <a:xfrm>
            <a:off x="457200" y="3143250"/>
            <a:ext cx="3905400" cy="2286000"/>
            <a:chOff x="457200" y="3143250"/>
            <a:chExt cx="3905400" cy="2286000"/>
          </a:xfrm>
        </p:grpSpPr>
        <p:sp>
          <p:nvSpPr>
            <p:cNvPr id="167" name="Google Shape;167;p28"/>
            <p:cNvSpPr/>
            <p:nvPr/>
          </p:nvSpPr>
          <p:spPr>
            <a:xfrm>
              <a:off x="457200" y="3143250"/>
              <a:ext cx="3905400" cy="2286000"/>
            </a:xfrm>
            <a:prstGeom prst="roundRect">
              <a:avLst>
                <a:gd fmla="val 6250" name="adj"/>
              </a:avLst>
            </a:prstGeom>
            <a:solidFill>
              <a:srgbClr val="FFFFFF"/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8"/>
            <p:cNvSpPr txBox="1"/>
            <p:nvPr/>
          </p:nvSpPr>
          <p:spPr>
            <a:xfrm>
              <a:off x="457200" y="3143250"/>
              <a:ext cx="39054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3D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calculate</a:t>
              </a:r>
              <a:endParaRPr sz="3600">
                <a:solidFill>
                  <a:srgbClr val="FF3D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Complex Manual Math</a:t>
              </a:r>
              <a:endParaRPr b="1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Manual calculations of milk price based on volume, Fat, and SNF are complex and error-prone.</a:t>
              </a:r>
              <a:endParaRPr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9" name="Google Shape;169;p28"/>
          <p:cNvGrpSpPr/>
          <p:nvPr/>
        </p:nvGrpSpPr>
        <p:grpSpPr>
          <a:xfrm>
            <a:off x="4781550" y="3143250"/>
            <a:ext cx="3905400" cy="2286000"/>
            <a:chOff x="4781550" y="3143250"/>
            <a:chExt cx="3905400" cy="2286000"/>
          </a:xfrm>
        </p:grpSpPr>
        <p:sp>
          <p:nvSpPr>
            <p:cNvPr id="170" name="Google Shape;170;p28"/>
            <p:cNvSpPr/>
            <p:nvPr/>
          </p:nvSpPr>
          <p:spPr>
            <a:xfrm>
              <a:off x="4781550" y="3143250"/>
              <a:ext cx="3905400" cy="2286000"/>
            </a:xfrm>
            <a:prstGeom prst="roundRect">
              <a:avLst>
                <a:gd fmla="val 6250" name="adj"/>
              </a:avLst>
            </a:prstGeom>
            <a:solidFill>
              <a:srgbClr val="FFFFFF"/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8"/>
            <p:cNvSpPr txBox="1"/>
            <p:nvPr/>
          </p:nvSpPr>
          <p:spPr>
            <a:xfrm>
              <a:off x="4781550" y="3143250"/>
              <a:ext cx="39054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3D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payments</a:t>
              </a:r>
              <a:endParaRPr sz="3600">
                <a:solidFill>
                  <a:srgbClr val="FF3D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High Operational Costs</a:t>
              </a:r>
              <a:endParaRPr b="1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Often requires external accountants, leading to significantly increased operational costs.</a:t>
              </a:r>
              <a:endParaRPr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2" name="Google Shape;172;p28"/>
          <p:cNvSpPr/>
          <p:nvPr/>
        </p:nvSpPr>
        <p:spPr>
          <a:xfrm>
            <a:off x="0" y="6715125"/>
            <a:ext cx="9144000" cy="142800"/>
          </a:xfrm>
          <a:prstGeom prst="rect">
            <a:avLst/>
          </a:prstGeom>
          <a:solidFill>
            <a:srgbClr val="FF3D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8"/>
          <p:cNvSpPr txBox="1"/>
          <p:nvPr/>
        </p:nvSpPr>
        <p:spPr>
          <a:xfrm>
            <a:off x="6553076" y="6356518"/>
            <a:ext cx="2133300" cy="36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1905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sz="14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p28" title="Screenshot 2026-05-05 1149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83375" y="336860"/>
            <a:ext cx="1905000" cy="615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FF3D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9"/>
          <p:cNvSpPr/>
          <p:nvPr/>
        </p:nvSpPr>
        <p:spPr>
          <a:xfrm>
            <a:off x="0" y="6715125"/>
            <a:ext cx="9144000" cy="142800"/>
          </a:xfrm>
          <a:prstGeom prst="rect">
            <a:avLst/>
          </a:prstGeom>
          <a:solidFill>
            <a:srgbClr val="FF3D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9"/>
          <p:cNvSpPr txBox="1"/>
          <p:nvPr/>
        </p:nvSpPr>
        <p:spPr>
          <a:xfrm>
            <a:off x="457200" y="57150"/>
            <a:ext cx="6019800" cy="8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1905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Objectives</a:t>
            </a:r>
            <a:endParaRPr b="1" sz="36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3" name="Google Shape;183;p29"/>
          <p:cNvPicPr preferRelativeResize="0"/>
          <p:nvPr/>
        </p:nvPicPr>
        <p:blipFill rotWithShape="1">
          <a:blip r:embed="rId4">
            <a:alphaModFix/>
          </a:blip>
          <a:srcRect b="0" l="278" r="288" t="0"/>
          <a:stretch/>
        </p:blipFill>
        <p:spPr>
          <a:xfrm>
            <a:off x="6886076" y="345600"/>
            <a:ext cx="1867500" cy="606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4" name="Google Shape;184;p29"/>
          <p:cNvGrpSpPr/>
          <p:nvPr/>
        </p:nvGrpSpPr>
        <p:grpSpPr>
          <a:xfrm>
            <a:off x="457200" y="1428750"/>
            <a:ext cx="3905400" cy="2190900"/>
            <a:chOff x="457200" y="1428750"/>
            <a:chExt cx="3905400" cy="2190900"/>
          </a:xfrm>
        </p:grpSpPr>
        <p:sp>
          <p:nvSpPr>
            <p:cNvPr id="185" name="Google Shape;185;p29"/>
            <p:cNvSpPr/>
            <p:nvPr/>
          </p:nvSpPr>
          <p:spPr>
            <a:xfrm>
              <a:off x="457200" y="1428750"/>
              <a:ext cx="3905400" cy="2190900"/>
            </a:xfrm>
            <a:prstGeom prst="roundRect">
              <a:avLst>
                <a:gd fmla="val 6521" name="adj"/>
              </a:avLst>
            </a:prstGeom>
            <a:solidFill>
              <a:srgbClr val="FFFFFF"/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9"/>
            <p:cNvSpPr txBox="1"/>
            <p:nvPr/>
          </p:nvSpPr>
          <p:spPr>
            <a:xfrm>
              <a:off x="457200" y="1428750"/>
              <a:ext cx="39054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3D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</a:t>
              </a:r>
              <a:endParaRPr sz="3600">
                <a:solidFill>
                  <a:srgbClr val="FF3D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Automation</a:t>
              </a:r>
              <a:endParaRPr b="1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Digitize milk purchase calculations based on quantity, Fat, CLR, and SNF parameters instantly.</a:t>
              </a:r>
              <a:endParaRPr b="0"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7" name="Google Shape;187;p29"/>
          <p:cNvGrpSpPr/>
          <p:nvPr/>
        </p:nvGrpSpPr>
        <p:grpSpPr>
          <a:xfrm>
            <a:off x="4781550" y="1428750"/>
            <a:ext cx="3905400" cy="2190900"/>
            <a:chOff x="4781550" y="1428750"/>
            <a:chExt cx="3905400" cy="2190900"/>
          </a:xfrm>
        </p:grpSpPr>
        <p:sp>
          <p:nvSpPr>
            <p:cNvPr id="188" name="Google Shape;188;p29"/>
            <p:cNvSpPr/>
            <p:nvPr/>
          </p:nvSpPr>
          <p:spPr>
            <a:xfrm>
              <a:off x="4781550" y="1428750"/>
              <a:ext cx="3905400" cy="2190900"/>
            </a:xfrm>
            <a:prstGeom prst="roundRect">
              <a:avLst>
                <a:gd fmla="val 6521" name="adj"/>
              </a:avLst>
            </a:prstGeom>
            <a:solidFill>
              <a:srgbClr val="FFFFFF"/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9"/>
            <p:cNvSpPr txBox="1"/>
            <p:nvPr/>
          </p:nvSpPr>
          <p:spPr>
            <a:xfrm>
              <a:off x="4781550" y="1428750"/>
              <a:ext cx="39054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3D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groups</a:t>
              </a:r>
              <a:endParaRPr sz="3600">
                <a:solidFill>
                  <a:srgbClr val="FF3D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Management</a:t>
              </a:r>
              <a:endParaRPr b="1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Simplify supplier record management and track advance payments seamlessly in real-time.</a:t>
              </a:r>
              <a:endParaRPr b="0"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0" name="Google Shape;190;p29"/>
          <p:cNvGrpSpPr/>
          <p:nvPr/>
        </p:nvGrpSpPr>
        <p:grpSpPr>
          <a:xfrm>
            <a:off x="457200" y="4000500"/>
            <a:ext cx="3905400" cy="2190900"/>
            <a:chOff x="457200" y="4000500"/>
            <a:chExt cx="3905400" cy="2190900"/>
          </a:xfrm>
        </p:grpSpPr>
        <p:sp>
          <p:nvSpPr>
            <p:cNvPr id="191" name="Google Shape;191;p29"/>
            <p:cNvSpPr/>
            <p:nvPr/>
          </p:nvSpPr>
          <p:spPr>
            <a:xfrm>
              <a:off x="457200" y="4000500"/>
              <a:ext cx="3905400" cy="2190900"/>
            </a:xfrm>
            <a:prstGeom prst="roundRect">
              <a:avLst>
                <a:gd fmla="val 6521" name="adj"/>
              </a:avLst>
            </a:prstGeom>
            <a:solidFill>
              <a:srgbClr val="FFFFFF"/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9"/>
            <p:cNvSpPr txBox="1"/>
            <p:nvPr/>
          </p:nvSpPr>
          <p:spPr>
            <a:xfrm>
              <a:off x="457200" y="4000500"/>
              <a:ext cx="39054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3D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speed</a:t>
              </a:r>
              <a:endParaRPr sz="3600">
                <a:solidFill>
                  <a:srgbClr val="FF3D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Efficiency</a:t>
              </a:r>
              <a:endParaRPr b="1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Minimize manual paperwork and human error in morning and evening record entries.</a:t>
              </a:r>
              <a:endParaRPr b="0"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3" name="Google Shape;193;p29"/>
          <p:cNvGrpSpPr/>
          <p:nvPr/>
        </p:nvGrpSpPr>
        <p:grpSpPr>
          <a:xfrm>
            <a:off x="4781550" y="4000500"/>
            <a:ext cx="3905400" cy="2190900"/>
            <a:chOff x="4781550" y="4000500"/>
            <a:chExt cx="3905400" cy="2190900"/>
          </a:xfrm>
        </p:grpSpPr>
        <p:sp>
          <p:nvSpPr>
            <p:cNvPr id="194" name="Google Shape;194;p29"/>
            <p:cNvSpPr/>
            <p:nvPr/>
          </p:nvSpPr>
          <p:spPr>
            <a:xfrm>
              <a:off x="4781550" y="4000500"/>
              <a:ext cx="3905400" cy="2190900"/>
            </a:xfrm>
            <a:prstGeom prst="roundRect">
              <a:avLst>
                <a:gd fmla="val 6521" name="adj"/>
              </a:avLst>
            </a:prstGeom>
            <a:solidFill>
              <a:srgbClr val="FFFFFF"/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9"/>
            <p:cNvSpPr txBox="1"/>
            <p:nvPr/>
          </p:nvSpPr>
          <p:spPr>
            <a:xfrm>
              <a:off x="4781550" y="4000500"/>
              <a:ext cx="39054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3D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visibility</a:t>
              </a:r>
              <a:endParaRPr sz="3600">
                <a:solidFill>
                  <a:srgbClr val="FF3D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Transparency</a:t>
              </a:r>
              <a:endParaRPr b="1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Provide detailed filtered records and automated bill generation to improve supplier trust.</a:t>
              </a:r>
              <a:endParaRPr b="0"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6" name="Google Shape;196;p29"/>
          <p:cNvSpPr txBox="1"/>
          <p:nvPr/>
        </p:nvSpPr>
        <p:spPr>
          <a:xfrm>
            <a:off x="6553200" y="6353175"/>
            <a:ext cx="2133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1905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sz="14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FF3D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3" name="Google Shape;20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3378" y="336860"/>
            <a:ext cx="1905000" cy="61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0"/>
          <p:cNvSpPr txBox="1"/>
          <p:nvPr/>
        </p:nvSpPr>
        <p:spPr>
          <a:xfrm>
            <a:off x="457200" y="57150"/>
            <a:ext cx="6019800" cy="8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1905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Solution</a:t>
            </a:r>
            <a:endParaRPr b="1" sz="36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30"/>
          <p:cNvSpPr txBox="1"/>
          <p:nvPr/>
        </p:nvSpPr>
        <p:spPr>
          <a:xfrm>
            <a:off x="457200" y="1238250"/>
            <a:ext cx="8229600" cy="7620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 robust web-based Dairy Milk Billing and Management System ensuring accurate financial tracking for every drop collected.</a:t>
            </a:r>
            <a:endParaRPr b="0" sz="18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6" name="Google Shape;206;p30"/>
          <p:cNvGrpSpPr/>
          <p:nvPr/>
        </p:nvGrpSpPr>
        <p:grpSpPr>
          <a:xfrm>
            <a:off x="457200" y="2286000"/>
            <a:ext cx="3905400" cy="1905000"/>
            <a:chOff x="457200" y="2286000"/>
            <a:chExt cx="3905400" cy="1905000"/>
          </a:xfrm>
        </p:grpSpPr>
        <p:sp>
          <p:nvSpPr>
            <p:cNvPr id="207" name="Google Shape;207;p30"/>
            <p:cNvSpPr/>
            <p:nvPr/>
          </p:nvSpPr>
          <p:spPr>
            <a:xfrm>
              <a:off x="457200" y="2286000"/>
              <a:ext cx="3905400" cy="1905000"/>
            </a:xfrm>
            <a:prstGeom prst="roundRect">
              <a:avLst>
                <a:gd fmla="val 7500" name="adj"/>
              </a:avLst>
            </a:prstGeom>
            <a:solidFill>
              <a:srgbClr val="FFFFFF"/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30"/>
            <p:cNvSpPr txBox="1"/>
            <p:nvPr/>
          </p:nvSpPr>
          <p:spPr>
            <a:xfrm>
              <a:off x="457200" y="2286000"/>
              <a:ext cx="39054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FF3D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b="0" sz="3600">
                <a:solidFill>
                  <a:srgbClr val="FF3D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Pricing Algorithms</a:t>
              </a:r>
              <a:endParaRPr b="1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Integrates real-time milk pricing algorithms with secure database management.</a:t>
              </a:r>
              <a:endParaRPr b="0"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" name="Google Shape;209;p30"/>
          <p:cNvGrpSpPr/>
          <p:nvPr/>
        </p:nvGrpSpPr>
        <p:grpSpPr>
          <a:xfrm>
            <a:off x="4781550" y="2286000"/>
            <a:ext cx="3905400" cy="1905000"/>
            <a:chOff x="4781550" y="2286000"/>
            <a:chExt cx="3905400" cy="1905000"/>
          </a:xfrm>
        </p:grpSpPr>
        <p:sp>
          <p:nvSpPr>
            <p:cNvPr id="210" name="Google Shape;210;p30"/>
            <p:cNvSpPr/>
            <p:nvPr/>
          </p:nvSpPr>
          <p:spPr>
            <a:xfrm>
              <a:off x="4781550" y="2286000"/>
              <a:ext cx="3905400" cy="1905000"/>
            </a:xfrm>
            <a:prstGeom prst="roundRect">
              <a:avLst>
                <a:gd fmla="val 7500" name="adj"/>
              </a:avLst>
            </a:prstGeom>
            <a:solidFill>
              <a:srgbClr val="FFFFFF"/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30"/>
            <p:cNvSpPr txBox="1"/>
            <p:nvPr/>
          </p:nvSpPr>
          <p:spPr>
            <a:xfrm>
              <a:off x="4781550" y="2286000"/>
              <a:ext cx="39054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FF3D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shopping_cart</a:t>
              </a:r>
              <a:endParaRPr b="0" sz="3600">
                <a:solidFill>
                  <a:srgbClr val="FF3D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Sales Management</a:t>
              </a:r>
              <a:endParaRPr b="1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Provides end-to-end digital sales management for streamlined dairy operations.</a:t>
              </a:r>
              <a:endParaRPr b="0"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2" name="Google Shape;212;p30"/>
          <p:cNvGrpSpPr/>
          <p:nvPr/>
        </p:nvGrpSpPr>
        <p:grpSpPr>
          <a:xfrm>
            <a:off x="457200" y="4476750"/>
            <a:ext cx="3905400" cy="1905000"/>
            <a:chOff x="457200" y="4476750"/>
            <a:chExt cx="3905400" cy="1905000"/>
          </a:xfrm>
        </p:grpSpPr>
        <p:sp>
          <p:nvSpPr>
            <p:cNvPr id="213" name="Google Shape;213;p30"/>
            <p:cNvSpPr/>
            <p:nvPr/>
          </p:nvSpPr>
          <p:spPr>
            <a:xfrm>
              <a:off x="457200" y="4476750"/>
              <a:ext cx="3905400" cy="1905000"/>
            </a:xfrm>
            <a:prstGeom prst="roundRect">
              <a:avLst>
                <a:gd fmla="val 7500" name="adj"/>
              </a:avLst>
            </a:prstGeom>
            <a:solidFill>
              <a:srgbClr val="FFFFFF"/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30"/>
            <p:cNvSpPr txBox="1"/>
            <p:nvPr/>
          </p:nvSpPr>
          <p:spPr>
            <a:xfrm>
              <a:off x="457200" y="4476750"/>
              <a:ext cx="39054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FF3D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monitor_weight</a:t>
              </a:r>
              <a:endParaRPr b="0" sz="3600">
                <a:solidFill>
                  <a:srgbClr val="FF3D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Weight Computation</a:t>
              </a:r>
              <a:endParaRPr b="1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Automatic Fat and SNF weight computation for error-free transactions.</a:t>
              </a:r>
              <a:endParaRPr b="0"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5" name="Google Shape;215;p30"/>
          <p:cNvGrpSpPr/>
          <p:nvPr/>
        </p:nvGrpSpPr>
        <p:grpSpPr>
          <a:xfrm>
            <a:off x="4781550" y="4476750"/>
            <a:ext cx="3905400" cy="1905000"/>
            <a:chOff x="4781550" y="4476750"/>
            <a:chExt cx="3905400" cy="1905000"/>
          </a:xfrm>
        </p:grpSpPr>
        <p:sp>
          <p:nvSpPr>
            <p:cNvPr id="216" name="Google Shape;216;p30"/>
            <p:cNvSpPr/>
            <p:nvPr/>
          </p:nvSpPr>
          <p:spPr>
            <a:xfrm>
              <a:off x="4781550" y="4476750"/>
              <a:ext cx="3905400" cy="1905000"/>
            </a:xfrm>
            <a:prstGeom prst="roundRect">
              <a:avLst>
                <a:gd fmla="val 7500" name="adj"/>
              </a:avLst>
            </a:prstGeom>
            <a:solidFill>
              <a:srgbClr val="FFFFFF"/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30"/>
            <p:cNvSpPr txBox="1"/>
            <p:nvPr/>
          </p:nvSpPr>
          <p:spPr>
            <a:xfrm>
              <a:off x="4781550" y="4476750"/>
              <a:ext cx="39054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600">
                  <a:solidFill>
                    <a:srgbClr val="FF3D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security</a:t>
              </a:r>
              <a:endParaRPr b="0" sz="3600">
                <a:solidFill>
                  <a:srgbClr val="FF3D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Secure Data</a:t>
              </a:r>
              <a:endParaRPr b="1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Ensures secure database management for all collection and payment records.</a:t>
              </a:r>
              <a:endParaRPr b="0"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8" name="Google Shape;218;p30"/>
          <p:cNvSpPr/>
          <p:nvPr/>
        </p:nvSpPr>
        <p:spPr>
          <a:xfrm>
            <a:off x="0" y="6715125"/>
            <a:ext cx="9144000" cy="142800"/>
          </a:xfrm>
          <a:prstGeom prst="rect">
            <a:avLst/>
          </a:prstGeom>
          <a:solidFill>
            <a:srgbClr val="FF3D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0"/>
          <p:cNvSpPr txBox="1"/>
          <p:nvPr/>
        </p:nvSpPr>
        <p:spPr>
          <a:xfrm>
            <a:off x="6553200" y="6353175"/>
            <a:ext cx="2133600" cy="362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1905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sz="14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1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FF3D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1"/>
          <p:cNvSpPr/>
          <p:nvPr/>
        </p:nvSpPr>
        <p:spPr>
          <a:xfrm>
            <a:off x="0" y="6715125"/>
            <a:ext cx="9144000" cy="142800"/>
          </a:xfrm>
          <a:prstGeom prst="rect">
            <a:avLst/>
          </a:prstGeom>
          <a:solidFill>
            <a:srgbClr val="FF3D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7" name="Google Shape;227;p31"/>
          <p:cNvGrpSpPr/>
          <p:nvPr/>
        </p:nvGrpSpPr>
        <p:grpSpPr>
          <a:xfrm>
            <a:off x="457200" y="0"/>
            <a:ext cx="8124825" cy="952500"/>
            <a:chOff x="457200" y="0"/>
            <a:chExt cx="8124825" cy="952500"/>
          </a:xfrm>
        </p:grpSpPr>
        <p:sp>
          <p:nvSpPr>
            <p:cNvPr id="228" name="Google Shape;228;p31"/>
            <p:cNvSpPr txBox="1"/>
            <p:nvPr/>
          </p:nvSpPr>
          <p:spPr>
            <a:xfrm>
              <a:off x="457200" y="0"/>
              <a:ext cx="6019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Core Calculation Logic</a:t>
              </a:r>
              <a:endParaRPr b="1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229" name="Google Shape;229;p31"/>
            <p:cNvPicPr preferRelativeResize="0"/>
            <p:nvPr/>
          </p:nvPicPr>
          <p:blipFill rotWithShape="1">
            <a:blip r:embed="rId3">
              <a:alphaModFix/>
            </a:blip>
            <a:srcRect b="10" l="0" r="0" t="0"/>
            <a:stretch/>
          </p:blipFill>
          <p:spPr>
            <a:xfrm>
              <a:off x="6677025" y="333375"/>
              <a:ext cx="1905000" cy="615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0" name="Google Shape;230;p31"/>
          <p:cNvGrpSpPr/>
          <p:nvPr/>
        </p:nvGrpSpPr>
        <p:grpSpPr>
          <a:xfrm>
            <a:off x="457200" y="1238250"/>
            <a:ext cx="8229600" cy="762000"/>
            <a:chOff x="457200" y="1238250"/>
            <a:chExt cx="8229600" cy="762000"/>
          </a:xfrm>
        </p:grpSpPr>
        <p:sp>
          <p:nvSpPr>
            <p:cNvPr id="231" name="Google Shape;231;p31"/>
            <p:cNvSpPr/>
            <p:nvPr/>
          </p:nvSpPr>
          <p:spPr>
            <a:xfrm>
              <a:off x="457200" y="1238250"/>
              <a:ext cx="8229600" cy="762000"/>
            </a:xfrm>
            <a:prstGeom prst="roundRect">
              <a:avLst>
                <a:gd fmla="val 125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31"/>
            <p:cNvSpPr txBox="1"/>
            <p:nvPr/>
          </p:nvSpPr>
          <p:spPr>
            <a:xfrm>
              <a:off x="647700" y="1238250"/>
              <a:ext cx="78486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The system determines milk quality and pricing using standard dairy industry formulas. Solids-Not-Fat (SNF) is calculated using the Corrected Lactometer Reading (CLR) and Fat percentage.</a:t>
              </a:r>
              <a:endParaRPr sz="16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3" name="Google Shape;233;p31"/>
          <p:cNvGrpSpPr/>
          <p:nvPr/>
        </p:nvGrpSpPr>
        <p:grpSpPr>
          <a:xfrm>
            <a:off x="457200" y="2286000"/>
            <a:ext cx="8229600" cy="1905000"/>
            <a:chOff x="457200" y="2286000"/>
            <a:chExt cx="8229600" cy="1905000"/>
          </a:xfrm>
        </p:grpSpPr>
        <p:sp>
          <p:nvSpPr>
            <p:cNvPr id="234" name="Google Shape;234;p31"/>
            <p:cNvSpPr/>
            <p:nvPr/>
          </p:nvSpPr>
          <p:spPr>
            <a:xfrm>
              <a:off x="457200" y="2286000"/>
              <a:ext cx="8229600" cy="1905000"/>
            </a:xfrm>
            <a:prstGeom prst="roundRect">
              <a:avLst>
                <a:gd fmla="val 7500" name="adj"/>
              </a:avLst>
            </a:prstGeom>
            <a:solidFill>
              <a:srgbClr val="FFFFFF"/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31"/>
            <p:cNvSpPr txBox="1"/>
            <p:nvPr/>
          </p:nvSpPr>
          <p:spPr>
            <a:xfrm>
              <a:off x="457200" y="2476500"/>
              <a:ext cx="8229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Standard Industry Formula</a:t>
              </a:r>
              <a:endParaRPr b="1" sz="18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6" name="Google Shape;236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38375" y="3048000"/>
              <a:ext cx="4657800" cy="676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7" name="Google Shape;237;p31"/>
          <p:cNvSpPr txBox="1"/>
          <p:nvPr/>
        </p:nvSpPr>
        <p:spPr>
          <a:xfrm>
            <a:off x="6553200" y="6353175"/>
            <a:ext cx="2133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1905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sz="14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FF3D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4" name="Google Shape;244;p32"/>
          <p:cNvPicPr preferRelativeResize="0"/>
          <p:nvPr/>
        </p:nvPicPr>
        <p:blipFill rotWithShape="1">
          <a:blip r:embed="rId3">
            <a:alphaModFix/>
          </a:blip>
          <a:srcRect b="10" l="0" r="0" t="0"/>
          <a:stretch/>
        </p:blipFill>
        <p:spPr>
          <a:xfrm>
            <a:off x="6683378" y="336860"/>
            <a:ext cx="1905000" cy="61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2"/>
          <p:cNvSpPr txBox="1"/>
          <p:nvPr/>
        </p:nvSpPr>
        <p:spPr>
          <a:xfrm>
            <a:off x="457200" y="57150"/>
            <a:ext cx="6019800" cy="8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1905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Technology Stack</a:t>
            </a:r>
            <a:endParaRPr b="1" sz="36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46" name="Google Shape;246;p32"/>
          <p:cNvGrpSpPr/>
          <p:nvPr/>
        </p:nvGrpSpPr>
        <p:grpSpPr>
          <a:xfrm>
            <a:off x="457200" y="1428750"/>
            <a:ext cx="2571900" cy="3810000"/>
            <a:chOff x="457200" y="1428750"/>
            <a:chExt cx="2571900" cy="3810000"/>
          </a:xfrm>
        </p:grpSpPr>
        <p:sp>
          <p:nvSpPr>
            <p:cNvPr id="247" name="Google Shape;247;p32"/>
            <p:cNvSpPr/>
            <p:nvPr/>
          </p:nvSpPr>
          <p:spPr>
            <a:xfrm>
              <a:off x="457200" y="1428750"/>
              <a:ext cx="2571900" cy="3810000"/>
            </a:xfrm>
            <a:prstGeom prst="roundRect">
              <a:avLst>
                <a:gd fmla="val 5555" name="adj"/>
              </a:avLst>
            </a:prstGeom>
            <a:solidFill>
              <a:srgbClr val="FFFFFF"/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32"/>
            <p:cNvSpPr txBox="1"/>
            <p:nvPr/>
          </p:nvSpPr>
          <p:spPr>
            <a:xfrm>
              <a:off x="457200" y="1428750"/>
              <a:ext cx="25719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3D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web</a:t>
              </a:r>
              <a:endParaRPr sz="3600">
                <a:solidFill>
                  <a:srgbClr val="FF3D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Frontend</a:t>
              </a:r>
              <a:endParaRPr b="1" sz="18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React.js with Vite and Tailwind CSS for a modern, responsive user experience.</a:t>
              </a:r>
              <a:endParaRPr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9" name="Google Shape;249;p32"/>
          <p:cNvGrpSpPr/>
          <p:nvPr/>
        </p:nvGrpSpPr>
        <p:grpSpPr>
          <a:xfrm>
            <a:off x="3286125" y="1428750"/>
            <a:ext cx="2571900" cy="3810000"/>
            <a:chOff x="3286125" y="1428750"/>
            <a:chExt cx="2571900" cy="3810000"/>
          </a:xfrm>
        </p:grpSpPr>
        <p:sp>
          <p:nvSpPr>
            <p:cNvPr id="250" name="Google Shape;250;p32"/>
            <p:cNvSpPr/>
            <p:nvPr/>
          </p:nvSpPr>
          <p:spPr>
            <a:xfrm>
              <a:off x="3286125" y="1428750"/>
              <a:ext cx="2571900" cy="3810000"/>
            </a:xfrm>
            <a:prstGeom prst="roundRect">
              <a:avLst>
                <a:gd fmla="val 5555" name="adj"/>
              </a:avLst>
            </a:prstGeom>
            <a:solidFill>
              <a:srgbClr val="FFFFFF"/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32"/>
            <p:cNvSpPr txBox="1"/>
            <p:nvPr/>
          </p:nvSpPr>
          <p:spPr>
            <a:xfrm>
              <a:off x="3286125" y="1428750"/>
              <a:ext cx="25719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3D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dns</a:t>
              </a:r>
              <a:endParaRPr sz="3600">
                <a:solidFill>
                  <a:srgbClr val="FF3D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Backend</a:t>
              </a:r>
              <a:endParaRPr b="1" sz="18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Node.js and Express.js providing robust RESTful API services.</a:t>
              </a:r>
              <a:endParaRPr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2" name="Google Shape;252;p32"/>
          <p:cNvGrpSpPr/>
          <p:nvPr/>
        </p:nvGrpSpPr>
        <p:grpSpPr>
          <a:xfrm>
            <a:off x="6115050" y="1428750"/>
            <a:ext cx="2571900" cy="3810000"/>
            <a:chOff x="6115050" y="1428750"/>
            <a:chExt cx="2571900" cy="3810000"/>
          </a:xfrm>
        </p:grpSpPr>
        <p:sp>
          <p:nvSpPr>
            <p:cNvPr id="253" name="Google Shape;253;p32"/>
            <p:cNvSpPr/>
            <p:nvPr/>
          </p:nvSpPr>
          <p:spPr>
            <a:xfrm>
              <a:off x="6115050" y="1428750"/>
              <a:ext cx="2571900" cy="3810000"/>
            </a:xfrm>
            <a:prstGeom prst="roundRect">
              <a:avLst>
                <a:gd fmla="val 5555" name="adj"/>
              </a:avLst>
            </a:prstGeom>
            <a:solidFill>
              <a:srgbClr val="FFFFFF"/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32"/>
            <p:cNvSpPr txBox="1"/>
            <p:nvPr/>
          </p:nvSpPr>
          <p:spPr>
            <a:xfrm>
              <a:off x="6115050" y="1428750"/>
              <a:ext cx="25719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3D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endParaRPr sz="3600">
                <a:solidFill>
                  <a:srgbClr val="FF3D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Database</a:t>
              </a:r>
              <a:endParaRPr b="1" sz="18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PostgreSQL managed through Prisma ORM for type-safe database interactions.</a:t>
              </a:r>
              <a:endParaRPr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5" name="Google Shape;255;p32"/>
          <p:cNvSpPr/>
          <p:nvPr/>
        </p:nvSpPr>
        <p:spPr>
          <a:xfrm>
            <a:off x="0" y="6715125"/>
            <a:ext cx="9144000" cy="142800"/>
          </a:xfrm>
          <a:prstGeom prst="rect">
            <a:avLst/>
          </a:prstGeom>
          <a:solidFill>
            <a:srgbClr val="FF3D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2"/>
          <p:cNvSpPr txBox="1"/>
          <p:nvPr/>
        </p:nvSpPr>
        <p:spPr>
          <a:xfrm>
            <a:off x="6553200" y="6353175"/>
            <a:ext cx="2133600" cy="362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1905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sz="14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3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FF3D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3"/>
          <p:cNvSpPr/>
          <p:nvPr/>
        </p:nvSpPr>
        <p:spPr>
          <a:xfrm>
            <a:off x="0" y="6715125"/>
            <a:ext cx="9144000" cy="142800"/>
          </a:xfrm>
          <a:prstGeom prst="rect">
            <a:avLst/>
          </a:prstGeom>
          <a:solidFill>
            <a:srgbClr val="FF3D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33"/>
          <p:cNvPicPr preferRelativeResize="0"/>
          <p:nvPr/>
        </p:nvPicPr>
        <p:blipFill rotWithShape="1">
          <a:blip r:embed="rId3">
            <a:alphaModFix/>
          </a:blip>
          <a:srcRect b="0" l="278" r="288" t="0"/>
          <a:stretch/>
        </p:blipFill>
        <p:spPr>
          <a:xfrm>
            <a:off x="6677025" y="333375"/>
            <a:ext cx="1905000" cy="6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3"/>
          <p:cNvSpPr txBox="1"/>
          <p:nvPr/>
        </p:nvSpPr>
        <p:spPr>
          <a:xfrm>
            <a:off x="457200" y="0"/>
            <a:ext cx="60198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1905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Features</a:t>
            </a:r>
            <a:endParaRPr b="1" sz="36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66" name="Google Shape;266;p33"/>
          <p:cNvGrpSpPr/>
          <p:nvPr/>
        </p:nvGrpSpPr>
        <p:grpSpPr>
          <a:xfrm>
            <a:off x="457200" y="1428750"/>
            <a:ext cx="3905400" cy="1905000"/>
            <a:chOff x="457200" y="1428750"/>
            <a:chExt cx="3905400" cy="1905000"/>
          </a:xfrm>
        </p:grpSpPr>
        <p:sp>
          <p:nvSpPr>
            <p:cNvPr id="267" name="Google Shape;267;p33"/>
            <p:cNvSpPr/>
            <p:nvPr/>
          </p:nvSpPr>
          <p:spPr>
            <a:xfrm>
              <a:off x="457200" y="1428750"/>
              <a:ext cx="3905400" cy="1905000"/>
            </a:xfrm>
            <a:prstGeom prst="roundRect">
              <a:avLst>
                <a:gd fmla="val 7500" name="adj"/>
              </a:avLst>
            </a:prstGeom>
            <a:solidFill>
              <a:srgbClr val="FFFFFF"/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33"/>
            <p:cNvSpPr txBox="1"/>
            <p:nvPr/>
          </p:nvSpPr>
          <p:spPr>
            <a:xfrm>
              <a:off x="457200" y="1428750"/>
              <a:ext cx="39054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3D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schedule</a:t>
              </a:r>
              <a:endParaRPr sz="3600">
                <a:solidFill>
                  <a:srgbClr val="FF3D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Morning/Evening Shifts</a:t>
              </a:r>
              <a:endParaRPr b="1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Automated categorization of milk entries based on the time of collection.</a:t>
              </a:r>
              <a:endParaRPr b="0"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9" name="Google Shape;269;p33"/>
          <p:cNvGrpSpPr/>
          <p:nvPr/>
        </p:nvGrpSpPr>
        <p:grpSpPr>
          <a:xfrm>
            <a:off x="4781550" y="1428750"/>
            <a:ext cx="3905400" cy="1905000"/>
            <a:chOff x="4781550" y="1428750"/>
            <a:chExt cx="3905400" cy="1905000"/>
          </a:xfrm>
        </p:grpSpPr>
        <p:sp>
          <p:nvSpPr>
            <p:cNvPr id="270" name="Google Shape;270;p33"/>
            <p:cNvSpPr/>
            <p:nvPr/>
          </p:nvSpPr>
          <p:spPr>
            <a:xfrm>
              <a:off x="4781550" y="1428750"/>
              <a:ext cx="3905400" cy="1905000"/>
            </a:xfrm>
            <a:prstGeom prst="roundRect">
              <a:avLst>
                <a:gd fmla="val 7500" name="adj"/>
              </a:avLst>
            </a:prstGeom>
            <a:solidFill>
              <a:srgbClr val="FFFFFF"/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33"/>
            <p:cNvSpPr txBox="1"/>
            <p:nvPr/>
          </p:nvSpPr>
          <p:spPr>
            <a:xfrm>
              <a:off x="4781550" y="1428750"/>
              <a:ext cx="39054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3D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picture_as_pdf</a:t>
              </a:r>
              <a:endParaRPr sz="3600">
                <a:solidFill>
                  <a:srgbClr val="FF3D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Secure PDF Billing</a:t>
              </a:r>
              <a:endParaRPr b="1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Instant generation of professional invoices for specific date ranges.</a:t>
              </a:r>
              <a:endParaRPr b="0"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2" name="Google Shape;272;p33"/>
          <p:cNvGrpSpPr/>
          <p:nvPr/>
        </p:nvGrpSpPr>
        <p:grpSpPr>
          <a:xfrm>
            <a:off x="457200" y="3619500"/>
            <a:ext cx="3905400" cy="1905000"/>
            <a:chOff x="457200" y="3619500"/>
            <a:chExt cx="3905400" cy="1905000"/>
          </a:xfrm>
        </p:grpSpPr>
        <p:sp>
          <p:nvSpPr>
            <p:cNvPr id="273" name="Google Shape;273;p33"/>
            <p:cNvSpPr/>
            <p:nvPr/>
          </p:nvSpPr>
          <p:spPr>
            <a:xfrm>
              <a:off x="457200" y="3619500"/>
              <a:ext cx="3905400" cy="1905000"/>
            </a:xfrm>
            <a:prstGeom prst="roundRect">
              <a:avLst>
                <a:gd fmla="val 7500" name="adj"/>
              </a:avLst>
            </a:prstGeom>
            <a:solidFill>
              <a:srgbClr val="FFFFFF"/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33"/>
            <p:cNvSpPr txBox="1"/>
            <p:nvPr/>
          </p:nvSpPr>
          <p:spPr>
            <a:xfrm>
              <a:off x="457200" y="3619500"/>
              <a:ext cx="39054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3D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update</a:t>
              </a:r>
              <a:endParaRPr sz="3600">
                <a:solidFill>
                  <a:srgbClr val="FF3D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Bulk Rate Updates</a:t>
              </a:r>
              <a:endParaRPr b="1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Apply global rate changes across all suppliers with a single interaction.</a:t>
              </a:r>
              <a:endParaRPr b="0"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5" name="Google Shape;275;p33"/>
          <p:cNvGrpSpPr/>
          <p:nvPr/>
        </p:nvGrpSpPr>
        <p:grpSpPr>
          <a:xfrm>
            <a:off x="4781550" y="3619500"/>
            <a:ext cx="3905400" cy="1905000"/>
            <a:chOff x="4781550" y="3619500"/>
            <a:chExt cx="3905400" cy="1905000"/>
          </a:xfrm>
        </p:grpSpPr>
        <p:sp>
          <p:nvSpPr>
            <p:cNvPr id="276" name="Google Shape;276;p33"/>
            <p:cNvSpPr/>
            <p:nvPr/>
          </p:nvSpPr>
          <p:spPr>
            <a:xfrm>
              <a:off x="4781550" y="3619500"/>
              <a:ext cx="3905400" cy="1905000"/>
            </a:xfrm>
            <a:prstGeom prst="roundRect">
              <a:avLst>
                <a:gd fmla="val 7500" name="adj"/>
              </a:avLst>
            </a:prstGeom>
            <a:solidFill>
              <a:srgbClr val="FFFFFF"/>
            </a:solidFill>
            <a:ln cap="flat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33"/>
            <p:cNvSpPr txBox="1"/>
            <p:nvPr/>
          </p:nvSpPr>
          <p:spPr>
            <a:xfrm>
              <a:off x="4781550" y="3619500"/>
              <a:ext cx="39054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FF3D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groups</a:t>
              </a:r>
              <a:endParaRPr sz="3600">
                <a:solidFill>
                  <a:srgbClr val="FF3D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CRM Capabilities</a:t>
              </a:r>
              <a:endParaRPr b="1" sz="16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Individual profile management for both suppliers and product customers.</a:t>
              </a:r>
              <a:endParaRPr b="0"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8" name="Google Shape;278;p33"/>
          <p:cNvSpPr txBox="1"/>
          <p:nvPr/>
        </p:nvSpPr>
        <p:spPr>
          <a:xfrm>
            <a:off x="6553200" y="6353175"/>
            <a:ext cx="2133600" cy="362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1905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sz="14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4"/>
          <p:cNvSpPr/>
          <p:nvPr/>
        </p:nvSpPr>
        <p:spPr>
          <a:xfrm>
            <a:off x="0" y="0"/>
            <a:ext cx="9144000" cy="952500"/>
          </a:xfrm>
          <a:prstGeom prst="rect">
            <a:avLst/>
          </a:prstGeom>
          <a:solidFill>
            <a:srgbClr val="FF3D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4"/>
          <p:cNvSpPr/>
          <p:nvPr/>
        </p:nvSpPr>
        <p:spPr>
          <a:xfrm>
            <a:off x="0" y="6715125"/>
            <a:ext cx="9144000" cy="142800"/>
          </a:xfrm>
          <a:prstGeom prst="rect">
            <a:avLst/>
          </a:prstGeom>
          <a:solidFill>
            <a:srgbClr val="FF3D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6" name="Google Shape;286;p34"/>
          <p:cNvPicPr preferRelativeResize="0"/>
          <p:nvPr/>
        </p:nvPicPr>
        <p:blipFill rotWithShape="1">
          <a:blip r:embed="rId3">
            <a:alphaModFix/>
          </a:blip>
          <a:srcRect b="0" l="288" r="288" t="0"/>
          <a:stretch/>
        </p:blipFill>
        <p:spPr>
          <a:xfrm>
            <a:off x="6677025" y="333375"/>
            <a:ext cx="1905000" cy="6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4"/>
          <p:cNvSpPr txBox="1"/>
          <p:nvPr/>
        </p:nvSpPr>
        <p:spPr>
          <a:xfrm>
            <a:off x="457200" y="0"/>
            <a:ext cx="60198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1905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3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Outcomes &amp; Benefits</a:t>
            </a:r>
            <a:endParaRPr b="1" sz="333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88" name="Google Shape;288;p34"/>
          <p:cNvGrpSpPr/>
          <p:nvPr/>
        </p:nvGrpSpPr>
        <p:grpSpPr>
          <a:xfrm>
            <a:off x="457200" y="1333500"/>
            <a:ext cx="8229600" cy="3238650"/>
            <a:chOff x="457200" y="1333500"/>
            <a:chExt cx="8229600" cy="3238650"/>
          </a:xfrm>
        </p:grpSpPr>
        <p:sp>
          <p:nvSpPr>
            <p:cNvPr id="289" name="Google Shape;289;p34"/>
            <p:cNvSpPr/>
            <p:nvPr/>
          </p:nvSpPr>
          <p:spPr>
            <a:xfrm>
              <a:off x="457200" y="1333500"/>
              <a:ext cx="2743200" cy="571500"/>
            </a:xfrm>
            <a:prstGeom prst="rect">
              <a:avLst/>
            </a:prstGeom>
            <a:solidFill>
              <a:srgbClr val="F8FAFC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34"/>
            <p:cNvSpPr txBox="1"/>
            <p:nvPr/>
          </p:nvSpPr>
          <p:spPr>
            <a:xfrm>
              <a:off x="457200" y="1333500"/>
              <a:ext cx="2743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Performance Metric</a:t>
              </a:r>
              <a:endParaRPr b="1" sz="14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34"/>
            <p:cNvSpPr/>
            <p:nvPr/>
          </p:nvSpPr>
          <p:spPr>
            <a:xfrm>
              <a:off x="3200400" y="1333500"/>
              <a:ext cx="2743200" cy="571500"/>
            </a:xfrm>
            <a:prstGeom prst="rect">
              <a:avLst/>
            </a:prstGeom>
            <a:solidFill>
              <a:srgbClr val="F8FAFC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34"/>
            <p:cNvSpPr txBox="1"/>
            <p:nvPr/>
          </p:nvSpPr>
          <p:spPr>
            <a:xfrm>
              <a:off x="3200400" y="1333500"/>
              <a:ext cx="2743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Manual Approach</a:t>
              </a:r>
              <a:endParaRPr b="1" sz="14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34"/>
            <p:cNvSpPr/>
            <p:nvPr/>
          </p:nvSpPr>
          <p:spPr>
            <a:xfrm>
              <a:off x="5943600" y="1333500"/>
              <a:ext cx="2743200" cy="571500"/>
            </a:xfrm>
            <a:prstGeom prst="rect">
              <a:avLst/>
            </a:prstGeom>
            <a:solidFill>
              <a:srgbClr val="FFF7ED"/>
            </a:solidFill>
            <a:ln cap="flat" cmpd="sng" w="9525">
              <a:solidFill>
                <a:srgbClr val="FF3D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34"/>
            <p:cNvSpPr txBox="1"/>
            <p:nvPr/>
          </p:nvSpPr>
          <p:spPr>
            <a:xfrm>
              <a:off x="5943600" y="1333500"/>
              <a:ext cx="2743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3D00"/>
                  </a:solidFill>
                  <a:latin typeface="Arial"/>
                  <a:ea typeface="Arial"/>
                  <a:cs typeface="Arial"/>
                  <a:sym typeface="Arial"/>
                </a:rPr>
                <a:t>Web-Based System</a:t>
              </a:r>
              <a:endParaRPr b="1" sz="1400">
                <a:solidFill>
                  <a:srgbClr val="FF3D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34"/>
            <p:cNvSpPr/>
            <p:nvPr/>
          </p:nvSpPr>
          <p:spPr>
            <a:xfrm>
              <a:off x="457200" y="1905000"/>
              <a:ext cx="2743200" cy="666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34"/>
            <p:cNvSpPr txBox="1"/>
            <p:nvPr/>
          </p:nvSpPr>
          <p:spPr>
            <a:xfrm>
              <a:off x="457200" y="1905000"/>
              <a:ext cx="27432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Calculation Speed</a:t>
              </a:r>
              <a:endParaRPr b="1"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34"/>
            <p:cNvSpPr/>
            <p:nvPr/>
          </p:nvSpPr>
          <p:spPr>
            <a:xfrm>
              <a:off x="3200400" y="1905000"/>
              <a:ext cx="2743200" cy="666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34"/>
            <p:cNvSpPr txBox="1"/>
            <p:nvPr/>
          </p:nvSpPr>
          <p:spPr>
            <a:xfrm>
              <a:off x="3200400" y="1905000"/>
              <a:ext cx="27432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5-10 Minutes</a:t>
              </a:r>
              <a:endParaRPr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34"/>
            <p:cNvSpPr/>
            <p:nvPr/>
          </p:nvSpPr>
          <p:spPr>
            <a:xfrm>
              <a:off x="5943600" y="1905000"/>
              <a:ext cx="2743200" cy="666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34"/>
            <p:cNvSpPr txBox="1"/>
            <p:nvPr/>
          </p:nvSpPr>
          <p:spPr>
            <a:xfrm>
              <a:off x="5943600" y="1905000"/>
              <a:ext cx="27432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6A34A"/>
                  </a:solidFill>
                  <a:latin typeface="Arial"/>
                  <a:ea typeface="Arial"/>
                  <a:cs typeface="Arial"/>
                  <a:sym typeface="Arial"/>
                </a:rPr>
                <a:t>&lt; 1 Second</a:t>
              </a:r>
              <a:endParaRPr b="1" sz="14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34"/>
            <p:cNvSpPr/>
            <p:nvPr/>
          </p:nvSpPr>
          <p:spPr>
            <a:xfrm>
              <a:off x="457200" y="2571750"/>
              <a:ext cx="2743200" cy="666900"/>
            </a:xfrm>
            <a:prstGeom prst="rect">
              <a:avLst/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4"/>
            <p:cNvSpPr txBox="1"/>
            <p:nvPr/>
          </p:nvSpPr>
          <p:spPr>
            <a:xfrm>
              <a:off x="457200" y="2571750"/>
              <a:ext cx="27432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Error Probability</a:t>
              </a:r>
              <a:endParaRPr b="1"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34"/>
            <p:cNvSpPr/>
            <p:nvPr/>
          </p:nvSpPr>
          <p:spPr>
            <a:xfrm>
              <a:off x="3200400" y="2571750"/>
              <a:ext cx="2743200" cy="666900"/>
            </a:xfrm>
            <a:prstGeom prst="rect">
              <a:avLst/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34"/>
            <p:cNvSpPr txBox="1"/>
            <p:nvPr/>
          </p:nvSpPr>
          <p:spPr>
            <a:xfrm>
              <a:off x="3200400" y="2571750"/>
              <a:ext cx="27432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High (Human Calculation)</a:t>
              </a:r>
              <a:endParaRPr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34"/>
            <p:cNvSpPr/>
            <p:nvPr/>
          </p:nvSpPr>
          <p:spPr>
            <a:xfrm>
              <a:off x="5943600" y="2571750"/>
              <a:ext cx="2743200" cy="666900"/>
            </a:xfrm>
            <a:prstGeom prst="rect">
              <a:avLst/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34"/>
            <p:cNvSpPr txBox="1"/>
            <p:nvPr/>
          </p:nvSpPr>
          <p:spPr>
            <a:xfrm>
              <a:off x="5943600" y="2571750"/>
              <a:ext cx="27432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6A34A"/>
                  </a:solidFill>
                  <a:latin typeface="Arial"/>
                  <a:ea typeface="Arial"/>
                  <a:cs typeface="Arial"/>
                  <a:sym typeface="Arial"/>
                </a:rPr>
                <a:t>Negligible (Algorithmic)</a:t>
              </a:r>
              <a:endParaRPr b="1" sz="14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34"/>
            <p:cNvSpPr/>
            <p:nvPr/>
          </p:nvSpPr>
          <p:spPr>
            <a:xfrm>
              <a:off x="457200" y="3238500"/>
              <a:ext cx="2743200" cy="666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34"/>
            <p:cNvSpPr txBox="1"/>
            <p:nvPr/>
          </p:nvSpPr>
          <p:spPr>
            <a:xfrm>
              <a:off x="457200" y="3238500"/>
              <a:ext cx="27432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Data Retrieval</a:t>
              </a:r>
              <a:endParaRPr b="1"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34"/>
            <p:cNvSpPr/>
            <p:nvPr/>
          </p:nvSpPr>
          <p:spPr>
            <a:xfrm>
              <a:off x="3200400" y="3238500"/>
              <a:ext cx="2743200" cy="666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34"/>
            <p:cNvSpPr txBox="1"/>
            <p:nvPr/>
          </p:nvSpPr>
          <p:spPr>
            <a:xfrm>
              <a:off x="3200400" y="3238500"/>
              <a:ext cx="27432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Manual Book Search</a:t>
              </a:r>
              <a:endParaRPr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34"/>
            <p:cNvSpPr/>
            <p:nvPr/>
          </p:nvSpPr>
          <p:spPr>
            <a:xfrm>
              <a:off x="5943600" y="3238500"/>
              <a:ext cx="2743200" cy="6669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34"/>
            <p:cNvSpPr txBox="1"/>
            <p:nvPr/>
          </p:nvSpPr>
          <p:spPr>
            <a:xfrm>
              <a:off x="5943600" y="3238500"/>
              <a:ext cx="27432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6A34A"/>
                  </a:solidFill>
                  <a:latin typeface="Arial"/>
                  <a:ea typeface="Arial"/>
                  <a:cs typeface="Arial"/>
                  <a:sym typeface="Arial"/>
                </a:rPr>
                <a:t>Instant Multi-Filter Search</a:t>
              </a:r>
              <a:endParaRPr b="1" sz="14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34"/>
            <p:cNvSpPr/>
            <p:nvPr/>
          </p:nvSpPr>
          <p:spPr>
            <a:xfrm>
              <a:off x="457200" y="3905250"/>
              <a:ext cx="2743200" cy="666900"/>
            </a:xfrm>
            <a:prstGeom prst="rect">
              <a:avLst/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34"/>
            <p:cNvSpPr txBox="1"/>
            <p:nvPr/>
          </p:nvSpPr>
          <p:spPr>
            <a:xfrm>
              <a:off x="457200" y="3905250"/>
              <a:ext cx="27432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Paperwork Cost</a:t>
              </a:r>
              <a:endParaRPr b="1"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34"/>
            <p:cNvSpPr/>
            <p:nvPr/>
          </p:nvSpPr>
          <p:spPr>
            <a:xfrm>
              <a:off x="3200400" y="3905250"/>
              <a:ext cx="2743200" cy="666900"/>
            </a:xfrm>
            <a:prstGeom prst="rect">
              <a:avLst/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34"/>
            <p:cNvSpPr txBox="1"/>
            <p:nvPr/>
          </p:nvSpPr>
          <p:spPr>
            <a:xfrm>
              <a:off x="3200400" y="3905250"/>
              <a:ext cx="27432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Significant (Registers/Books)</a:t>
              </a:r>
              <a:endParaRPr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34"/>
            <p:cNvSpPr/>
            <p:nvPr/>
          </p:nvSpPr>
          <p:spPr>
            <a:xfrm>
              <a:off x="5943600" y="3905250"/>
              <a:ext cx="2743200" cy="666900"/>
            </a:xfrm>
            <a:prstGeom prst="rect">
              <a:avLst/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34"/>
            <p:cNvSpPr txBox="1"/>
            <p:nvPr/>
          </p:nvSpPr>
          <p:spPr>
            <a:xfrm>
              <a:off x="5943600" y="3905250"/>
              <a:ext cx="27432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6A34A"/>
                  </a:solidFill>
                  <a:latin typeface="Arial"/>
                  <a:ea typeface="Arial"/>
                  <a:cs typeface="Arial"/>
                  <a:sym typeface="Arial"/>
                </a:rPr>
                <a:t>Minimal (Digital Records)</a:t>
              </a:r>
              <a:endParaRPr b="1" sz="1400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9" name="Google Shape;319;p34"/>
          <p:cNvGrpSpPr/>
          <p:nvPr/>
        </p:nvGrpSpPr>
        <p:grpSpPr>
          <a:xfrm>
            <a:off x="457200" y="4953000"/>
            <a:ext cx="8229600" cy="952500"/>
            <a:chOff x="457200" y="4953000"/>
            <a:chExt cx="8229600" cy="952500"/>
          </a:xfrm>
        </p:grpSpPr>
        <p:sp>
          <p:nvSpPr>
            <p:cNvPr id="320" name="Google Shape;320;p34"/>
            <p:cNvSpPr/>
            <p:nvPr/>
          </p:nvSpPr>
          <p:spPr>
            <a:xfrm>
              <a:off x="457200" y="4953000"/>
              <a:ext cx="8229600" cy="952500"/>
            </a:xfrm>
            <a:prstGeom prst="roundRect">
              <a:avLst>
                <a:gd fmla="val 10000" name="adj"/>
              </a:avLst>
            </a:prstGeom>
            <a:solidFill>
              <a:srgbClr val="FFF7ED"/>
            </a:solidFill>
            <a:ln cap="flat" cmpd="sng" w="9525">
              <a:solidFill>
                <a:srgbClr val="FFED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4"/>
            <p:cNvSpPr txBox="1"/>
            <p:nvPr/>
          </p:nvSpPr>
          <p:spPr>
            <a:xfrm>
              <a:off x="647700" y="4953000"/>
              <a:ext cx="78486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7C2D12"/>
                  </a:solidFill>
                  <a:latin typeface="Arial"/>
                  <a:ea typeface="Arial"/>
                  <a:cs typeface="Arial"/>
                  <a:sym typeface="Arial"/>
                </a:rPr>
                <a:t>Overall Impact</a:t>
              </a:r>
              <a:endParaRPr b="1" sz="1600">
                <a:solidFill>
                  <a:srgbClr val="7C2D1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7C2D12"/>
                  </a:solidFill>
                  <a:latin typeface="Arial"/>
                  <a:ea typeface="Arial"/>
                  <a:cs typeface="Arial"/>
                  <a:sym typeface="Arial"/>
                </a:rPr>
                <a:t>Improved accuracy, operational transparency, and reduced dependency on external accounting personnel.</a:t>
              </a:r>
              <a:endParaRPr sz="1600">
                <a:solidFill>
                  <a:srgbClr val="7C2D1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2" name="Google Shape;322;p34"/>
          <p:cNvSpPr txBox="1"/>
          <p:nvPr/>
        </p:nvSpPr>
        <p:spPr>
          <a:xfrm>
            <a:off x="6553200" y="6353175"/>
            <a:ext cx="2133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19050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1" sz="14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5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0" i="0" sz="5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8" name="Google Shape;328;p35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